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9B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Wysokość szczytowa (km)</c:v>
                </c:pt>
              </c:strCache>
            </c:strRef>
          </c:tx>
          <c:spPr>
            <a:solidFill>
              <a:srgbClr val="EF55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B94-4976-8A3F-C97C2472E088}"/>
              </c:ext>
            </c:extLst>
          </c:dPt>
          <c:dPt>
            <c:idx val="1"/>
            <c:invertIfNegative val="0"/>
            <c:bubble3D val="0"/>
            <c:spPr>
              <a:solidFill>
                <a:srgbClr val="8B9B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94-4976-8A3F-C97C2472E088}"/>
              </c:ext>
            </c:extLst>
          </c:dPt>
          <c:dPt>
            <c:idx val="2"/>
            <c:invertIfNegative val="0"/>
            <c:bubble3D val="0"/>
            <c:spPr>
              <a:solidFill>
                <a:srgbClr val="00E5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B94-4976-8A3F-C97C2472E088}"/>
              </c:ext>
            </c:extLst>
          </c:dPt>
          <c:dPt>
            <c:idx val="3"/>
            <c:invertIfNegative val="0"/>
            <c:bubble3D val="0"/>
            <c:spPr>
              <a:solidFill>
                <a:srgbClr val="00C8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B94-4976-8A3F-C97C2472E0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1E1E1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1. Stopień</c:v>
                </c:pt>
                <c:pt idx="1">
                  <c:v>Separacja</c:v>
                </c:pt>
                <c:pt idx="2">
                  <c:v>2. Stopień</c:v>
                </c:pt>
                <c:pt idx="3">
                  <c:v>Orbita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60</c:v>
                </c:pt>
                <c:pt idx="2">
                  <c:v>140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94-4976-8A3F-C97C2472E0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18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180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3" name="Shape 1"/>
          <p:cNvSpPr/>
          <p:nvPr/>
        </p:nvSpPr>
        <p:spPr>
          <a:xfrm>
            <a:off x="5303520" y="274320"/>
            <a:ext cx="5029200" cy="4572000"/>
          </a:xfrm>
          <a:prstGeom prst="ellipse">
            <a:avLst/>
          </a:prstGeom>
          <a:ln w="12700">
            <a:solidFill>
              <a:srgbClr val="4A90E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4" name="Shape 2"/>
          <p:cNvSpPr/>
          <p:nvPr/>
        </p:nvSpPr>
        <p:spPr>
          <a:xfrm>
            <a:off x="5669280" y="731520"/>
            <a:ext cx="4114800" cy="3657600"/>
          </a:xfrm>
          <a:prstGeom prst="ellipse">
            <a:avLst/>
          </a:prstGeom>
          <a:ln w="7620">
            <a:solidFill>
              <a:srgbClr val="00E5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5200" noProof="0" dirty="0">
                <a:solidFill>
                  <a:srgbClr val="000000"/>
                </a:solidFill>
              </a:rPr>
              <a:t>🚀</a:t>
            </a:r>
            <a:endParaRPr lang="pl-PL" sz="52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3800" b="1" noProof="0" dirty="0">
                <a:solidFill>
                  <a:srgbClr val="E1E1E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SATELLITE LAUNCH SYSTEM</a:t>
            </a:r>
            <a:endParaRPr lang="pl-PL" sz="38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2600" i="1" noProof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</a:t>
            </a:r>
            <a:r>
              <a:rPr lang="pl-PL" sz="2600" i="1" noProof="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r>
              <a:rPr lang="pl-PL" sz="2600" i="1" noProof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2600" i="1" noProof="0" dirty="0" err="1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pl-PL" sz="26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400" noProof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Cyfrowy Bliźniak Rakietowego Systemu Wynoszenia Satelity na Orbitę LEO</a:t>
            </a:r>
            <a:endParaRPr lang="pl-PL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00C851">
              <a:alpha val="40000"/>
            </a:srgbClr>
          </a:solidFill>
          <a:ln w="15240">
            <a:solidFill>
              <a:srgbClr val="00C851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Python + </a:t>
            </a:r>
            <a:r>
              <a:rPr lang="pl-PL" sz="1100" b="1" noProof="0" dirty="0" err="1">
                <a:solidFill>
                  <a:srgbClr val="E1E1E1"/>
                </a:solidFill>
              </a:rPr>
              <a:t>Dash</a:t>
            </a:r>
            <a:endParaRPr lang="pl-PL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2788920" y="370332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4A90E2">
              <a:alpha val="40000"/>
            </a:srgbClr>
          </a:solidFill>
          <a:ln w="1524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2" name="Text 10"/>
          <p:cNvSpPr/>
          <p:nvPr/>
        </p:nvSpPr>
        <p:spPr>
          <a:xfrm>
            <a:off x="2788920" y="3703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Fizyka Orbity</a:t>
            </a:r>
            <a:endParaRPr lang="pl-PL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0" y="370332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AB63FA">
              <a:alpha val="40000"/>
            </a:srgbClr>
          </a:solidFill>
          <a:ln w="15240">
            <a:solidFill>
              <a:srgbClr val="AB63FA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0" y="3703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AI Optymalizacja</a:t>
            </a:r>
            <a:endParaRPr lang="pl-PL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526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000" noProof="0" dirty="0">
                <a:solidFill>
                  <a:srgbClr val="8B9BB4"/>
                </a:solidFill>
              </a:rPr>
              <a:t>Projekt: Cyfrowy Bliźniak | Symulacja Misji Satelitarnej</a:t>
            </a:r>
            <a:endParaRPr lang="pl-PL" sz="1000" noProof="0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7FAF1956-AB21-1561-705B-5F417C07D769}"/>
              </a:ext>
            </a:extLst>
          </p:cNvPr>
          <p:cNvSpPr txBox="1"/>
          <p:nvPr/>
        </p:nvSpPr>
        <p:spPr>
          <a:xfrm>
            <a:off x="883418" y="4331208"/>
            <a:ext cx="3878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noProof="0" dirty="0">
                <a:solidFill>
                  <a:schemeClr val="bg1">
                    <a:lumMod val="95000"/>
                  </a:schemeClr>
                </a:solidFill>
              </a:rPr>
              <a:t>github.com/wcaleniekryspin/</a:t>
            </a:r>
            <a:r>
              <a:rPr lang="pl-PL" sz="1400" noProof="0" dirty="0" err="1">
                <a:solidFill>
                  <a:schemeClr val="bg1">
                    <a:lumMod val="95000"/>
                  </a:schemeClr>
                </a:solidFill>
              </a:rPr>
              <a:t>Digital_Twin_Mission</a:t>
            </a:r>
            <a:endParaRPr lang="pl-PL" sz="1400" noProof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9" name="Obraz 18">
            <a:extLst>
              <a:ext uri="{FF2B5EF4-FFF2-40B4-BE49-F238E27FC236}">
                <a16:creationId xmlns:a16="http://schemas.microsoft.com/office/drawing/2014/main" id="{5BEAC477-D085-79C6-5791-969BB2328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8160" y="4277566"/>
            <a:ext cx="396240" cy="39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2800" b="1" noProof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CZYM JEST DIGITAL TWIN?</a:t>
            </a:r>
            <a:endParaRPr lang="pl-PL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400" noProof="0" dirty="0">
                <a:solidFill>
                  <a:srgbClr val="8B9BB4"/>
                </a:solidFill>
              </a:rPr>
              <a:t>Cyfrowe odwzorowanie fizycznego systemu rakiety w czasie rzeczywistym</a:t>
            </a:r>
            <a:endParaRPr lang="pl-PL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329184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5" name="Text 3"/>
          <p:cNvSpPr/>
          <p:nvPr/>
        </p:nvSpPr>
        <p:spPr>
          <a:xfrm>
            <a:off x="1234440" y="157276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3600" noProof="0" dirty="0">
                <a:solidFill>
                  <a:srgbClr val="000000"/>
                </a:solidFill>
              </a:rPr>
              <a:t>⚙️</a:t>
            </a:r>
            <a:endParaRPr lang="pl-PL" sz="36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400" b="1" noProof="0" dirty="0">
                <a:solidFill>
                  <a:srgbClr val="00E5FF"/>
                </a:solidFill>
              </a:rPr>
              <a:t>Model Rakiety</a:t>
            </a:r>
            <a:endParaRPr lang="pl-PL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2816352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2-stopniowy system nośny z parametrami masy, silników, aerodynamiki i struktury.</a:t>
            </a:r>
            <a:endParaRPr lang="pl-PL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2606040" cy="329184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9" name="Text 7"/>
          <p:cNvSpPr/>
          <p:nvPr/>
        </p:nvSpPr>
        <p:spPr>
          <a:xfrm>
            <a:off x="4069080" y="157276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3600" noProof="0" dirty="0">
                <a:solidFill>
                  <a:srgbClr val="000000"/>
                </a:solidFill>
              </a:rPr>
              <a:t>📡</a:t>
            </a:r>
            <a:endParaRPr lang="pl-PL" sz="3600" noProof="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400" b="1" noProof="0" dirty="0">
                <a:solidFill>
                  <a:srgbClr val="00E5FF"/>
                </a:solidFill>
              </a:rPr>
              <a:t>Symulacja Fizyczna</a:t>
            </a:r>
            <a:endParaRPr lang="pl-PL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2816352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Numeryczna integracja równań ruchu (RK45), grawitacja, atmosfera, opór powietrza.</a:t>
            </a:r>
            <a:endParaRPr lang="pl-PL" sz="1150" noProof="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06040" cy="329184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3" name="Text 11"/>
          <p:cNvSpPr/>
          <p:nvPr/>
        </p:nvSpPr>
        <p:spPr>
          <a:xfrm>
            <a:off x="6903720" y="1572768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3600" noProof="0" dirty="0">
                <a:solidFill>
                  <a:srgbClr val="000000"/>
                </a:solidFill>
              </a:rPr>
              <a:t>🤖</a:t>
            </a:r>
            <a:endParaRPr lang="pl-PL" sz="3600" noProof="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400" b="1" noProof="0" dirty="0">
                <a:solidFill>
                  <a:srgbClr val="00E5FF"/>
                </a:solidFill>
              </a:rPr>
              <a:t>AI Optymalizacja</a:t>
            </a:r>
            <a:endParaRPr lang="pl-PL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6172200" y="2816352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Algorytm Powell minimalizuje stratę prędkości i maksymalizuje kąt orbitalny.</a:t>
            </a:r>
            <a:endParaRPr lang="pl-PL" sz="1150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50" i="1" noProof="0" dirty="0">
                <a:solidFill>
                  <a:srgbClr val="8B9BB4"/>
                </a:solidFill>
              </a:rPr>
              <a:t>System pozwala modyfikować parametry i natychmiast obserwować efekty na przebieg misji.</a:t>
            </a:r>
            <a:endParaRPr lang="pl-PL" sz="11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2800" b="1" noProof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ARCHITEKTURA SYSTEMU</a:t>
            </a:r>
            <a:endParaRPr lang="pl-P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920240" cy="914400"/>
          </a:xfrm>
          <a:prstGeom prst="rect">
            <a:avLst/>
          </a:prstGeom>
          <a:solidFill>
            <a:srgbClr val="4A90E2">
              <a:alpha val="45000"/>
            </a:srgbClr>
          </a:solidFill>
          <a:ln w="1905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Panel Sterowania</a:t>
            </a:r>
            <a:endParaRPr lang="pl-PL" sz="1100" noProof="0" dirty="0"/>
          </a:p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(Suwaki UI)</a:t>
            </a:r>
            <a:endParaRPr lang="pl-PL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2423160" y="1188720"/>
            <a:ext cx="1920240" cy="914400"/>
          </a:xfrm>
          <a:prstGeom prst="rect">
            <a:avLst/>
          </a:prstGeom>
          <a:solidFill>
            <a:srgbClr val="4A90E2">
              <a:alpha val="45000"/>
            </a:srgbClr>
          </a:solidFill>
          <a:ln w="1905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6" name="Text 4"/>
          <p:cNvSpPr/>
          <p:nvPr/>
        </p:nvSpPr>
        <p:spPr>
          <a:xfrm>
            <a:off x="242316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Parametry</a:t>
            </a:r>
            <a:endParaRPr lang="pl-PL" sz="1100" noProof="0" dirty="0"/>
          </a:p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Misji</a:t>
            </a:r>
            <a:endParaRPr lang="pl-PL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0" y="1188720"/>
            <a:ext cx="1920240" cy="914400"/>
          </a:xfrm>
          <a:prstGeom prst="rect">
            <a:avLst/>
          </a:prstGeom>
          <a:solidFill>
            <a:srgbClr val="EF553B">
              <a:alpha val="45000"/>
            </a:srgbClr>
          </a:solidFill>
          <a:ln w="19050">
            <a:solidFill>
              <a:srgbClr val="EF553B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Silnik Fizyczny</a:t>
            </a:r>
            <a:endParaRPr lang="pl-PL" sz="1100" noProof="0" dirty="0"/>
          </a:p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(RK45 ODE)</a:t>
            </a:r>
            <a:endParaRPr lang="pl-PL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6720840" y="1188720"/>
            <a:ext cx="1920240" cy="914400"/>
          </a:xfrm>
          <a:prstGeom prst="rect">
            <a:avLst/>
          </a:prstGeom>
          <a:solidFill>
            <a:srgbClr val="AB63FA">
              <a:alpha val="45000"/>
            </a:srgbClr>
          </a:solidFill>
          <a:ln w="19050">
            <a:solidFill>
              <a:srgbClr val="AB63FA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0" name="Text 8"/>
          <p:cNvSpPr/>
          <p:nvPr/>
        </p:nvSpPr>
        <p:spPr>
          <a:xfrm>
            <a:off x="672084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AI Optymalizator</a:t>
            </a:r>
            <a:endParaRPr lang="pl-PL" sz="1100" noProof="0" dirty="0"/>
          </a:p>
          <a:p>
            <a:pPr marL="0" indent="0" algn="ctr">
              <a:buNone/>
            </a:pPr>
            <a:r>
              <a:rPr lang="pl-PL" sz="1100" b="1" noProof="0" dirty="0">
                <a:solidFill>
                  <a:srgbClr val="E1E1E1"/>
                </a:solidFill>
              </a:rPr>
              <a:t>(Powell)</a:t>
            </a:r>
            <a:endParaRPr lang="pl-PL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2194560" y="1645920"/>
            <a:ext cx="22860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2" name="Shape 10"/>
          <p:cNvSpPr/>
          <p:nvPr/>
        </p:nvSpPr>
        <p:spPr>
          <a:xfrm>
            <a:off x="4343400" y="1645920"/>
            <a:ext cx="22860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3" name="Shape 11"/>
          <p:cNvSpPr/>
          <p:nvPr/>
        </p:nvSpPr>
        <p:spPr>
          <a:xfrm>
            <a:off x="6492240" y="1645920"/>
            <a:ext cx="228600" cy="0"/>
          </a:xfrm>
          <a:prstGeom prst="line">
            <a:avLst/>
          </a:prstGeom>
          <a:noFill/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kern="0" spc="300" noProof="0" dirty="0">
                <a:solidFill>
                  <a:srgbClr val="8B9BB4"/>
                </a:solidFill>
              </a:rPr>
              <a:t>WYJŚCIE DASHBOARDU</a:t>
            </a:r>
            <a:endParaRPr lang="pl-PL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1920240" cy="146304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29443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2800" noProof="0" dirty="0">
                <a:solidFill>
                  <a:srgbClr val="000000"/>
                </a:solidFill>
              </a:rPr>
              <a:t>🌍</a:t>
            </a:r>
            <a:endParaRPr lang="pl-PL" sz="2800" noProof="0" dirty="0"/>
          </a:p>
        </p:txBody>
      </p:sp>
      <p:sp>
        <p:nvSpPr>
          <p:cNvPr id="17" name="Text 15"/>
          <p:cNvSpPr/>
          <p:nvPr/>
        </p:nvSpPr>
        <p:spPr>
          <a:xfrm>
            <a:off x="50292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00E5FF"/>
                </a:solidFill>
              </a:rPr>
              <a:t>Trajektoria 3D</a:t>
            </a:r>
            <a:endParaRPr lang="pl-PL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2560320" y="2880360"/>
            <a:ext cx="1920240" cy="146304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9" name="Text 17"/>
          <p:cNvSpPr/>
          <p:nvPr/>
        </p:nvSpPr>
        <p:spPr>
          <a:xfrm>
            <a:off x="2560320" y="29443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2800" noProof="0" dirty="0">
                <a:solidFill>
                  <a:srgbClr val="000000"/>
                </a:solidFill>
              </a:rPr>
              <a:t>📊</a:t>
            </a:r>
            <a:endParaRPr lang="pl-PL" sz="2800" noProof="0" dirty="0"/>
          </a:p>
        </p:txBody>
      </p:sp>
      <p:sp>
        <p:nvSpPr>
          <p:cNvPr id="20" name="Text 18"/>
          <p:cNvSpPr/>
          <p:nvPr/>
        </p:nvSpPr>
        <p:spPr>
          <a:xfrm>
            <a:off x="260604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00C851"/>
                </a:solidFill>
              </a:rPr>
              <a:t>Telemetria Lotu</a:t>
            </a:r>
            <a:endParaRPr lang="pl-PL" sz="1100" noProof="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1920240" cy="146304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22" name="Text 20"/>
          <p:cNvSpPr/>
          <p:nvPr/>
        </p:nvSpPr>
        <p:spPr>
          <a:xfrm>
            <a:off x="4663440" y="29443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2800" noProof="0" dirty="0">
                <a:solidFill>
                  <a:srgbClr val="000000"/>
                </a:solidFill>
              </a:rPr>
              <a:t>⚠️</a:t>
            </a:r>
            <a:endParaRPr lang="pl-PL" sz="2800" noProof="0" dirty="0"/>
          </a:p>
        </p:txBody>
      </p:sp>
      <p:sp>
        <p:nvSpPr>
          <p:cNvPr id="23" name="Text 21"/>
          <p:cNvSpPr/>
          <p:nvPr/>
        </p:nvSpPr>
        <p:spPr>
          <a:xfrm>
            <a:off x="470916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EF553B"/>
                </a:solidFill>
              </a:rPr>
              <a:t>Stabilność </a:t>
            </a:r>
            <a:r>
              <a:rPr lang="pl-PL" sz="1100" b="1" noProof="0" dirty="0" err="1">
                <a:solidFill>
                  <a:srgbClr val="EF553B"/>
                </a:solidFill>
              </a:rPr>
              <a:t>AoA</a:t>
            </a:r>
            <a:endParaRPr lang="pl-PL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6766560" y="2880360"/>
            <a:ext cx="1920240" cy="146304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25" name="Text 23"/>
          <p:cNvSpPr/>
          <p:nvPr/>
        </p:nvSpPr>
        <p:spPr>
          <a:xfrm>
            <a:off x="6766560" y="29443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2800" noProof="0" dirty="0">
                <a:solidFill>
                  <a:srgbClr val="000000"/>
                </a:solidFill>
              </a:rPr>
              <a:t>🛰️</a:t>
            </a:r>
            <a:endParaRPr lang="pl-PL" sz="2800" noProof="0" dirty="0"/>
          </a:p>
        </p:txBody>
      </p:sp>
      <p:sp>
        <p:nvSpPr>
          <p:cNvPr id="26" name="Text 24"/>
          <p:cNvSpPr/>
          <p:nvPr/>
        </p:nvSpPr>
        <p:spPr>
          <a:xfrm>
            <a:off x="681228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00" b="1" noProof="0" dirty="0">
                <a:solidFill>
                  <a:srgbClr val="AB63FA"/>
                </a:solidFill>
              </a:rPr>
              <a:t>Status Orbity LEO</a:t>
            </a:r>
            <a:endParaRPr lang="pl-PL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50" i="1" noProof="0" dirty="0" err="1">
                <a:solidFill>
                  <a:srgbClr val="8B9BB4"/>
                </a:solidFill>
              </a:rPr>
              <a:t>Stack</a:t>
            </a:r>
            <a:r>
              <a:rPr lang="pl-PL" sz="1050" i="1" noProof="0" dirty="0">
                <a:solidFill>
                  <a:srgbClr val="8B9BB4"/>
                </a:solidFill>
              </a:rPr>
              <a:t>: Python 3 · NumPy / </a:t>
            </a:r>
            <a:r>
              <a:rPr lang="pl-PL" sz="1050" i="1" noProof="0" dirty="0" err="1">
                <a:solidFill>
                  <a:srgbClr val="8B9BB4"/>
                </a:solidFill>
              </a:rPr>
              <a:t>SciPy</a:t>
            </a:r>
            <a:r>
              <a:rPr lang="pl-PL" sz="1050" i="1" noProof="0" dirty="0">
                <a:solidFill>
                  <a:srgbClr val="8B9BB4"/>
                </a:solidFill>
              </a:rPr>
              <a:t> (</a:t>
            </a:r>
            <a:r>
              <a:rPr lang="pl-PL" sz="1050" i="1" noProof="0" dirty="0" err="1">
                <a:solidFill>
                  <a:srgbClr val="8B9BB4"/>
                </a:solidFill>
              </a:rPr>
              <a:t>solve_ivp</a:t>
            </a:r>
            <a:r>
              <a:rPr lang="pl-PL" sz="1050" i="1" noProof="0" dirty="0">
                <a:solidFill>
                  <a:srgbClr val="8B9BB4"/>
                </a:solidFill>
              </a:rPr>
              <a:t>) · </a:t>
            </a:r>
            <a:r>
              <a:rPr lang="pl-PL" sz="1050" i="1" noProof="0" dirty="0" err="1">
                <a:solidFill>
                  <a:srgbClr val="8B9BB4"/>
                </a:solidFill>
              </a:rPr>
              <a:t>Pandas</a:t>
            </a:r>
            <a:r>
              <a:rPr lang="pl-PL" sz="1050" i="1" noProof="0" dirty="0">
                <a:solidFill>
                  <a:srgbClr val="8B9BB4"/>
                </a:solidFill>
              </a:rPr>
              <a:t> · </a:t>
            </a:r>
            <a:r>
              <a:rPr lang="pl-PL" sz="1050" i="1" noProof="0" dirty="0" err="1">
                <a:solidFill>
                  <a:srgbClr val="8B9BB4"/>
                </a:solidFill>
              </a:rPr>
              <a:t>Plotly</a:t>
            </a:r>
            <a:r>
              <a:rPr lang="pl-PL" sz="1050" i="1" noProof="0" dirty="0">
                <a:solidFill>
                  <a:srgbClr val="8B9BB4"/>
                </a:solidFill>
              </a:rPr>
              <a:t> · </a:t>
            </a:r>
            <a:r>
              <a:rPr lang="pl-PL" sz="1050" i="1" noProof="0" dirty="0" err="1">
                <a:solidFill>
                  <a:srgbClr val="8B9BB4"/>
                </a:solidFill>
              </a:rPr>
              <a:t>Dash</a:t>
            </a:r>
            <a:r>
              <a:rPr lang="pl-PL" sz="1050" i="1" noProof="0" dirty="0">
                <a:solidFill>
                  <a:srgbClr val="8B9BB4"/>
                </a:solidFill>
              </a:rPr>
              <a:t> · </a:t>
            </a:r>
            <a:r>
              <a:rPr lang="pl-PL" sz="1050" i="1" noProof="0" dirty="0" err="1">
                <a:solidFill>
                  <a:srgbClr val="8B9BB4"/>
                </a:solidFill>
              </a:rPr>
              <a:t>scipy.optimize</a:t>
            </a:r>
            <a:endParaRPr lang="pl-PL" sz="10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2800" b="1" noProof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FIZYCZNY RAKIETY</a:t>
            </a:r>
            <a:endParaRPr lang="pl-P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400" b="1" noProof="0" dirty="0">
                <a:solidFill>
                  <a:srgbClr val="4A90E2"/>
                </a:solidFill>
              </a:rPr>
              <a:t>Równania Ruchu 2D</a:t>
            </a:r>
            <a:endParaRPr lang="pl-PL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🔵  Grawitacja Newtonowska: g = GM/r²</a:t>
            </a:r>
            <a:endParaRPr lang="pl-PL" sz="115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04825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🔵  Opór aerodyn.: D = ½ρv²CₐA</a:t>
            </a:r>
            <a:endParaRPr lang="pl-PL" sz="115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52374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🔵  Atmosfera barometryczna: ρ(h)</a:t>
            </a:r>
            <a:endParaRPr lang="pl-PL" sz="115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9992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🔵  Ciąg: F = </a:t>
            </a:r>
            <a:r>
              <a:rPr lang="pl-PL" sz="1150" noProof="0" dirty="0" err="1">
                <a:solidFill>
                  <a:srgbClr val="E1E1E1"/>
                </a:solidFill>
              </a:rPr>
              <a:t>Isp</a:t>
            </a:r>
            <a:r>
              <a:rPr lang="pl-PL" sz="1150" noProof="0" dirty="0">
                <a:solidFill>
                  <a:srgbClr val="E1E1E1"/>
                </a:solidFill>
              </a:rPr>
              <a:t> · ṁ · g₀</a:t>
            </a:r>
            <a:endParaRPr lang="pl-PL" sz="115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🔵  </a:t>
            </a:r>
            <a:r>
              <a:rPr lang="pl-PL" sz="1150" noProof="0" dirty="0" err="1">
                <a:solidFill>
                  <a:srgbClr val="E1E1E1"/>
                </a:solidFill>
              </a:rPr>
              <a:t>Gravity</a:t>
            </a:r>
            <a:r>
              <a:rPr lang="pl-PL" sz="1150" noProof="0" dirty="0">
                <a:solidFill>
                  <a:srgbClr val="E1E1E1"/>
                </a:solidFill>
              </a:rPr>
              <a:t> </a:t>
            </a:r>
            <a:r>
              <a:rPr lang="pl-PL" sz="1150" noProof="0" dirty="0" err="1">
                <a:solidFill>
                  <a:srgbClr val="E1E1E1"/>
                </a:solidFill>
              </a:rPr>
              <a:t>Turn</a:t>
            </a:r>
            <a:r>
              <a:rPr lang="pl-PL" sz="1150" noProof="0" dirty="0">
                <a:solidFill>
                  <a:srgbClr val="E1E1E1"/>
                </a:solidFill>
              </a:rPr>
              <a:t>: φ(t) – manewrowanie</a:t>
            </a:r>
            <a:endParaRPr lang="pl-PL" sz="115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39502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E1E1E1"/>
                </a:solidFill>
              </a:rPr>
              <a:t>🔵  Integrator: </a:t>
            </a:r>
            <a:r>
              <a:rPr lang="pl-PL" sz="1150" noProof="0" dirty="0" err="1">
                <a:solidFill>
                  <a:srgbClr val="E1E1E1"/>
                </a:solidFill>
              </a:rPr>
              <a:t>Runge</a:t>
            </a:r>
            <a:r>
              <a:rPr lang="pl-PL" sz="1150" noProof="0" dirty="0">
                <a:solidFill>
                  <a:srgbClr val="E1E1E1"/>
                </a:solidFill>
              </a:rPr>
              <a:t>-Kutta 4/5</a:t>
            </a:r>
            <a:endParaRPr lang="pl-PL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2" name="Text 10"/>
          <p:cNvSpPr/>
          <p:nvPr/>
        </p:nvSpPr>
        <p:spPr>
          <a:xfrm>
            <a:off x="48006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400" b="1" noProof="0" dirty="0">
                <a:solidFill>
                  <a:srgbClr val="00C851"/>
                </a:solidFill>
              </a:rPr>
              <a:t>Parametry Startowe</a:t>
            </a:r>
            <a:endParaRPr lang="pl-PL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4800600" y="15727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8B9BB4"/>
                </a:solidFill>
              </a:rPr>
              <a:t>Masa rakiety</a:t>
            </a:r>
            <a:endParaRPr lang="pl-PL" sz="1150" noProof="0" dirty="0"/>
          </a:p>
        </p:txBody>
      </p:sp>
      <p:sp>
        <p:nvSpPr>
          <p:cNvPr id="14" name="Text 12"/>
          <p:cNvSpPr/>
          <p:nvPr/>
        </p:nvSpPr>
        <p:spPr>
          <a:xfrm>
            <a:off x="7223760" y="157276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l-PL" sz="1150" b="1" noProof="0" dirty="0">
                <a:solidFill>
                  <a:srgbClr val="E1E1E1"/>
                </a:solidFill>
              </a:rPr>
              <a:t>30 kg</a:t>
            </a:r>
            <a:endParaRPr lang="pl-PL" sz="1150" noProof="0" dirty="0"/>
          </a:p>
        </p:txBody>
      </p:sp>
      <p:sp>
        <p:nvSpPr>
          <p:cNvPr id="15" name="Text 13"/>
          <p:cNvSpPr/>
          <p:nvPr/>
        </p:nvSpPr>
        <p:spPr>
          <a:xfrm>
            <a:off x="4800600" y="20482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8B9BB4"/>
                </a:solidFill>
              </a:rPr>
              <a:t>Paliwo 1. stopnia</a:t>
            </a:r>
            <a:endParaRPr lang="pl-PL" sz="1150" noProof="0" dirty="0"/>
          </a:p>
        </p:txBody>
      </p:sp>
      <p:sp>
        <p:nvSpPr>
          <p:cNvPr id="16" name="Text 14"/>
          <p:cNvSpPr/>
          <p:nvPr/>
        </p:nvSpPr>
        <p:spPr>
          <a:xfrm>
            <a:off x="7223760" y="20482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l-PL" sz="1150" b="1" noProof="0" dirty="0">
                <a:solidFill>
                  <a:srgbClr val="EF553B"/>
                </a:solidFill>
              </a:rPr>
              <a:t>500 kg</a:t>
            </a:r>
            <a:endParaRPr lang="pl-PL" sz="1150" noProof="0" dirty="0"/>
          </a:p>
        </p:txBody>
      </p:sp>
      <p:sp>
        <p:nvSpPr>
          <p:cNvPr id="17" name="Text 15"/>
          <p:cNvSpPr/>
          <p:nvPr/>
        </p:nvSpPr>
        <p:spPr>
          <a:xfrm>
            <a:off x="4800600" y="252374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8B9BB4"/>
                </a:solidFill>
              </a:rPr>
              <a:t>Ciąg 1. stopnia</a:t>
            </a:r>
            <a:endParaRPr lang="pl-PL" sz="1150" noProof="0" dirty="0"/>
          </a:p>
        </p:txBody>
      </p:sp>
      <p:sp>
        <p:nvSpPr>
          <p:cNvPr id="18" name="Text 16"/>
          <p:cNvSpPr/>
          <p:nvPr/>
        </p:nvSpPr>
        <p:spPr>
          <a:xfrm>
            <a:off x="7223760" y="252374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l-PL" sz="1150" b="1" noProof="0" dirty="0">
                <a:solidFill>
                  <a:srgbClr val="EF553B"/>
                </a:solidFill>
              </a:rPr>
              <a:t>30 </a:t>
            </a:r>
            <a:r>
              <a:rPr lang="pl-PL" sz="1150" b="1" noProof="0" dirty="0" err="1">
                <a:solidFill>
                  <a:srgbClr val="EF553B"/>
                </a:solidFill>
              </a:rPr>
              <a:t>kN</a:t>
            </a:r>
            <a:endParaRPr lang="pl-PL" sz="1150" noProof="0" dirty="0"/>
          </a:p>
        </p:txBody>
      </p:sp>
      <p:sp>
        <p:nvSpPr>
          <p:cNvPr id="19" name="Text 17"/>
          <p:cNvSpPr/>
          <p:nvPr/>
        </p:nvSpPr>
        <p:spPr>
          <a:xfrm>
            <a:off x="4800600" y="29992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8B9BB4"/>
                </a:solidFill>
              </a:rPr>
              <a:t>Paliwo 2. stopnia</a:t>
            </a:r>
            <a:endParaRPr lang="pl-PL" sz="1150" noProof="0" dirty="0"/>
          </a:p>
        </p:txBody>
      </p:sp>
      <p:sp>
        <p:nvSpPr>
          <p:cNvPr id="20" name="Text 18"/>
          <p:cNvSpPr/>
          <p:nvPr/>
        </p:nvSpPr>
        <p:spPr>
          <a:xfrm>
            <a:off x="7223760" y="299923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l-PL" sz="1150" b="1" noProof="0" dirty="0">
                <a:solidFill>
                  <a:srgbClr val="00E5FF"/>
                </a:solidFill>
              </a:rPr>
              <a:t>185 kg</a:t>
            </a:r>
            <a:endParaRPr lang="pl-PL" sz="1150" noProof="0" dirty="0"/>
          </a:p>
        </p:txBody>
      </p:sp>
      <p:sp>
        <p:nvSpPr>
          <p:cNvPr id="21" name="Text 19"/>
          <p:cNvSpPr/>
          <p:nvPr/>
        </p:nvSpPr>
        <p:spPr>
          <a:xfrm>
            <a:off x="4800600" y="347472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>
                <a:solidFill>
                  <a:srgbClr val="8B9BB4"/>
                </a:solidFill>
              </a:rPr>
              <a:t>Ciąg 2. stopnia</a:t>
            </a:r>
            <a:endParaRPr lang="pl-PL" sz="1150" noProof="0" dirty="0"/>
          </a:p>
        </p:txBody>
      </p:sp>
      <p:sp>
        <p:nvSpPr>
          <p:cNvPr id="22" name="Text 20"/>
          <p:cNvSpPr/>
          <p:nvPr/>
        </p:nvSpPr>
        <p:spPr>
          <a:xfrm>
            <a:off x="7223760" y="347472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l-PL" sz="1150" b="1" noProof="0" dirty="0">
                <a:solidFill>
                  <a:srgbClr val="00E5FF"/>
                </a:solidFill>
              </a:rPr>
              <a:t>10 </a:t>
            </a:r>
            <a:r>
              <a:rPr lang="pl-PL" sz="1150" b="1" noProof="0" dirty="0" err="1">
                <a:solidFill>
                  <a:srgbClr val="00E5FF"/>
                </a:solidFill>
              </a:rPr>
              <a:t>kN</a:t>
            </a:r>
            <a:endParaRPr lang="pl-PL" sz="1150" noProof="0" dirty="0"/>
          </a:p>
        </p:txBody>
      </p:sp>
      <p:sp>
        <p:nvSpPr>
          <p:cNvPr id="23" name="Text 21"/>
          <p:cNvSpPr/>
          <p:nvPr/>
        </p:nvSpPr>
        <p:spPr>
          <a:xfrm>
            <a:off x="4800600" y="395020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50" noProof="0" dirty="0" err="1">
                <a:solidFill>
                  <a:srgbClr val="8B9BB4"/>
                </a:solidFill>
              </a:rPr>
              <a:t>Isp</a:t>
            </a:r>
            <a:r>
              <a:rPr lang="pl-PL" sz="1150" noProof="0" dirty="0">
                <a:solidFill>
                  <a:srgbClr val="8B9BB4"/>
                </a:solidFill>
              </a:rPr>
              <a:t> obu stopni</a:t>
            </a:r>
            <a:endParaRPr lang="pl-PL" sz="1150" noProof="0" dirty="0"/>
          </a:p>
        </p:txBody>
      </p:sp>
      <p:sp>
        <p:nvSpPr>
          <p:cNvPr id="24" name="Text 22"/>
          <p:cNvSpPr/>
          <p:nvPr/>
        </p:nvSpPr>
        <p:spPr>
          <a:xfrm>
            <a:off x="7223760" y="39502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pl-PL" sz="1150" b="1" noProof="0" dirty="0">
                <a:solidFill>
                  <a:srgbClr val="8B9BB4"/>
                </a:solidFill>
              </a:rPr>
              <a:t>400 s</a:t>
            </a:r>
            <a:endParaRPr lang="pl-PL" sz="11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2800" b="1" noProof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PROFIL MISJI – SEKWENCJA LOTU</a:t>
            </a:r>
            <a:endParaRPr lang="pl-P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1645920" y="2134069"/>
            <a:ext cx="320040" cy="0"/>
          </a:xfrm>
          <a:prstGeom prst="line">
            <a:avLst/>
          </a:prstGeom>
          <a:noFill/>
          <a:ln w="12700">
            <a:solidFill>
              <a:srgbClr val="8B9BB4"/>
            </a:solidFill>
            <a:prstDash val="dash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463040" cy="35661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5" name="Shape 3"/>
          <p:cNvSpPr/>
          <p:nvPr/>
        </p:nvSpPr>
        <p:spPr>
          <a:xfrm>
            <a:off x="612648" y="1795741"/>
            <a:ext cx="685800" cy="502920"/>
          </a:xfrm>
          <a:prstGeom prst="ellipse">
            <a:avLst/>
          </a:prstGeom>
          <a:solidFill>
            <a:srgbClr val="EF553B">
              <a:alpha val="60000"/>
            </a:srgbClr>
          </a:solidFill>
          <a:ln w="19050">
            <a:solidFill>
              <a:srgbClr val="EF553B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6" name="Text 4"/>
          <p:cNvSpPr/>
          <p:nvPr/>
        </p:nvSpPr>
        <p:spPr>
          <a:xfrm>
            <a:off x="612648" y="1795741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300" b="1" noProof="0" dirty="0">
                <a:solidFill>
                  <a:srgbClr val="E1E1E1"/>
                </a:solidFill>
              </a:rPr>
              <a:t>01</a:t>
            </a:r>
            <a:endParaRPr lang="pl-P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2380957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b="1" noProof="0" dirty="0">
                <a:solidFill>
                  <a:srgbClr val="EF553B"/>
                </a:solidFill>
              </a:rPr>
              <a:t>START</a:t>
            </a:r>
            <a:endParaRPr lang="pl-PL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301752" y="2893021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Pełny ciąg 1. stopnia</a:t>
            </a:r>
            <a:endParaRPr lang="pl-PL" sz="1000" noProof="0" dirty="0"/>
          </a:p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Pionowy wznos z platformy</a:t>
            </a:r>
            <a:endParaRPr lang="pl-PL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3383280" y="2134069"/>
            <a:ext cx="320040" cy="0"/>
          </a:xfrm>
          <a:prstGeom prst="line">
            <a:avLst/>
          </a:prstGeom>
          <a:noFill/>
          <a:ln w="12700">
            <a:solidFill>
              <a:srgbClr val="8B9BB4"/>
            </a:solidFill>
            <a:prstDash val="dash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0" name="Shape 8"/>
          <p:cNvSpPr/>
          <p:nvPr/>
        </p:nvSpPr>
        <p:spPr>
          <a:xfrm>
            <a:off x="1965960" y="1005840"/>
            <a:ext cx="1463040" cy="35661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1" name="Shape 9"/>
          <p:cNvSpPr/>
          <p:nvPr/>
        </p:nvSpPr>
        <p:spPr>
          <a:xfrm>
            <a:off x="2350008" y="1795741"/>
            <a:ext cx="685800" cy="502920"/>
          </a:xfrm>
          <a:prstGeom prst="ellipse">
            <a:avLst/>
          </a:prstGeom>
          <a:solidFill>
            <a:srgbClr val="4A90E2">
              <a:alpha val="60000"/>
            </a:srgbClr>
          </a:solidFill>
          <a:ln w="19050">
            <a:solidFill>
              <a:srgbClr val="4A90E2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2" name="Text 10"/>
          <p:cNvSpPr/>
          <p:nvPr/>
        </p:nvSpPr>
        <p:spPr>
          <a:xfrm>
            <a:off x="2350008" y="1795741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300" b="1" noProof="0" dirty="0">
                <a:solidFill>
                  <a:srgbClr val="E1E1E1"/>
                </a:solidFill>
              </a:rPr>
              <a:t>02</a:t>
            </a:r>
            <a:endParaRPr lang="pl-PL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2011680" y="2380957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b="1" noProof="0" dirty="0">
                <a:solidFill>
                  <a:srgbClr val="4A90E2"/>
                </a:solidFill>
              </a:rPr>
              <a:t>GRAVITY TURN</a:t>
            </a:r>
            <a:endParaRPr lang="pl-PL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2039112" y="2893021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Automatyczne pochylenie</a:t>
            </a:r>
            <a:endParaRPr lang="pl-PL" sz="1000" noProof="0" dirty="0"/>
          </a:p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trajektorii ku horyzontowi</a:t>
            </a:r>
            <a:endParaRPr lang="pl-PL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5120640" y="2134069"/>
            <a:ext cx="320040" cy="0"/>
          </a:xfrm>
          <a:prstGeom prst="line">
            <a:avLst/>
          </a:prstGeom>
          <a:noFill/>
          <a:ln w="12700">
            <a:solidFill>
              <a:srgbClr val="8B9BB4"/>
            </a:solidFill>
            <a:prstDash val="dash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6" name="Shape 14"/>
          <p:cNvSpPr/>
          <p:nvPr/>
        </p:nvSpPr>
        <p:spPr>
          <a:xfrm>
            <a:off x="3703320" y="1005840"/>
            <a:ext cx="1463040" cy="35661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7" name="Shape 15"/>
          <p:cNvSpPr/>
          <p:nvPr/>
        </p:nvSpPr>
        <p:spPr>
          <a:xfrm>
            <a:off x="4087368" y="1795741"/>
            <a:ext cx="685800" cy="502920"/>
          </a:xfrm>
          <a:prstGeom prst="ellipse">
            <a:avLst/>
          </a:prstGeom>
          <a:solidFill>
            <a:srgbClr val="8B9BB4">
              <a:alpha val="60000"/>
            </a:srgbClr>
          </a:solidFill>
          <a:ln w="1905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18" name="Text 16"/>
          <p:cNvSpPr/>
          <p:nvPr/>
        </p:nvSpPr>
        <p:spPr>
          <a:xfrm>
            <a:off x="4087368" y="1795741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300" b="1" noProof="0" dirty="0">
                <a:solidFill>
                  <a:srgbClr val="E1E1E1"/>
                </a:solidFill>
              </a:rPr>
              <a:t>03</a:t>
            </a:r>
            <a:endParaRPr lang="pl-PL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3749040" y="2380957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b="1" noProof="0" dirty="0">
                <a:solidFill>
                  <a:srgbClr val="8B9BB4"/>
                </a:solidFill>
              </a:rPr>
              <a:t>SEPARACJA</a:t>
            </a:r>
            <a:endParaRPr lang="pl-PL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3776472" y="2893021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Odrzut 1. stopnia</a:t>
            </a:r>
            <a:endParaRPr lang="pl-PL" sz="1000" noProof="0" dirty="0"/>
          </a:p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Opóźnienie balistyczne 4s</a:t>
            </a:r>
            <a:endParaRPr lang="pl-PL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6858000" y="2134069"/>
            <a:ext cx="320040" cy="0"/>
          </a:xfrm>
          <a:prstGeom prst="line">
            <a:avLst/>
          </a:prstGeom>
          <a:noFill/>
          <a:ln w="12700">
            <a:solidFill>
              <a:srgbClr val="8B9BB4"/>
            </a:solidFill>
            <a:prstDash val="dash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22" name="Shape 20"/>
          <p:cNvSpPr/>
          <p:nvPr/>
        </p:nvSpPr>
        <p:spPr>
          <a:xfrm>
            <a:off x="5440680" y="1005840"/>
            <a:ext cx="1463040" cy="35661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23" name="Shape 21"/>
          <p:cNvSpPr/>
          <p:nvPr/>
        </p:nvSpPr>
        <p:spPr>
          <a:xfrm>
            <a:off x="5824728" y="1795741"/>
            <a:ext cx="685800" cy="502920"/>
          </a:xfrm>
          <a:prstGeom prst="ellipse">
            <a:avLst/>
          </a:prstGeom>
          <a:solidFill>
            <a:srgbClr val="00E5FF">
              <a:alpha val="60000"/>
            </a:srgbClr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24" name="Text 22"/>
          <p:cNvSpPr/>
          <p:nvPr/>
        </p:nvSpPr>
        <p:spPr>
          <a:xfrm>
            <a:off x="5824728" y="1795741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300" b="1" noProof="0" dirty="0">
                <a:solidFill>
                  <a:srgbClr val="E1E1E1"/>
                </a:solidFill>
              </a:rPr>
              <a:t>04</a:t>
            </a:r>
            <a:endParaRPr lang="pl-PL" sz="1300" noProof="0" dirty="0"/>
          </a:p>
        </p:txBody>
      </p:sp>
      <p:sp>
        <p:nvSpPr>
          <p:cNvPr id="25" name="Text 23"/>
          <p:cNvSpPr/>
          <p:nvPr/>
        </p:nvSpPr>
        <p:spPr>
          <a:xfrm>
            <a:off x="5486400" y="2380957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b="1" noProof="0" dirty="0">
                <a:solidFill>
                  <a:srgbClr val="00E5FF"/>
                </a:solidFill>
              </a:rPr>
              <a:t>2. STOPIEŃ</a:t>
            </a:r>
            <a:endParaRPr lang="pl-PL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5513832" y="2893021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Dopalenie na orbitę</a:t>
            </a:r>
            <a:endParaRPr lang="pl-PL" sz="1000" noProof="0" dirty="0"/>
          </a:p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optymalna prędkość LEO</a:t>
            </a:r>
            <a:endParaRPr lang="pl-PL" sz="1000" noProof="0" dirty="0"/>
          </a:p>
        </p:txBody>
      </p:sp>
      <p:sp>
        <p:nvSpPr>
          <p:cNvPr id="27" name="Shape 25"/>
          <p:cNvSpPr/>
          <p:nvPr/>
        </p:nvSpPr>
        <p:spPr>
          <a:xfrm>
            <a:off x="7178040" y="1005840"/>
            <a:ext cx="1463040" cy="35661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28" name="Shape 26"/>
          <p:cNvSpPr/>
          <p:nvPr/>
        </p:nvSpPr>
        <p:spPr>
          <a:xfrm>
            <a:off x="7562088" y="1795741"/>
            <a:ext cx="685800" cy="502920"/>
          </a:xfrm>
          <a:prstGeom prst="ellipse">
            <a:avLst/>
          </a:prstGeom>
          <a:solidFill>
            <a:srgbClr val="00C851">
              <a:alpha val="60000"/>
            </a:srgbClr>
          </a:solidFill>
          <a:ln w="19050">
            <a:solidFill>
              <a:srgbClr val="00C851"/>
            </a:solidFill>
            <a:prstDash val="solid"/>
          </a:ln>
        </p:spPr>
        <p:txBody>
          <a:bodyPr/>
          <a:lstStyle/>
          <a:p>
            <a:endParaRPr lang="pl-PL" noProof="0" dirty="0"/>
          </a:p>
        </p:txBody>
      </p:sp>
      <p:sp>
        <p:nvSpPr>
          <p:cNvPr id="29" name="Text 27"/>
          <p:cNvSpPr/>
          <p:nvPr/>
        </p:nvSpPr>
        <p:spPr>
          <a:xfrm>
            <a:off x="7562088" y="1795741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300" b="1" noProof="0" dirty="0">
                <a:solidFill>
                  <a:srgbClr val="E1E1E1"/>
                </a:solidFill>
              </a:rPr>
              <a:t>05</a:t>
            </a:r>
            <a:endParaRPr lang="pl-PL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7223760" y="2380957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b="1" noProof="0" dirty="0">
                <a:solidFill>
                  <a:srgbClr val="00C851"/>
                </a:solidFill>
              </a:rPr>
              <a:t>ORBITA LEO</a:t>
            </a:r>
            <a:endParaRPr lang="pl-PL" sz="1000" noProof="0" dirty="0"/>
          </a:p>
        </p:txBody>
      </p:sp>
      <p:sp>
        <p:nvSpPr>
          <p:cNvPr id="31" name="Text 29"/>
          <p:cNvSpPr/>
          <p:nvPr/>
        </p:nvSpPr>
        <p:spPr>
          <a:xfrm>
            <a:off x="7251192" y="2893021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h &gt; 140 km</a:t>
            </a:r>
            <a:endParaRPr lang="pl-PL" sz="1000" noProof="0" dirty="0"/>
          </a:p>
          <a:p>
            <a:pPr marL="0" indent="0" algn="ctr">
              <a:buNone/>
            </a:pPr>
            <a:r>
              <a:rPr lang="pl-PL" sz="1000" noProof="0" dirty="0">
                <a:solidFill>
                  <a:srgbClr val="E1E1E1"/>
                </a:solidFill>
              </a:rPr>
              <a:t>v ≈ prędkość orbitalna</a:t>
            </a:r>
            <a:endParaRPr lang="pl-PL" sz="1000" noProof="0" dirty="0"/>
          </a:p>
        </p:txBody>
      </p:sp>
      <p:sp>
        <p:nvSpPr>
          <p:cNvPr id="32" name="Shape 30"/>
          <p:cNvSpPr/>
          <p:nvPr/>
        </p:nvSpPr>
        <p:spPr>
          <a:xfrm>
            <a:off x="224028" y="4641635"/>
            <a:ext cx="8412480" cy="438912"/>
          </a:xfrm>
          <a:prstGeom prst="rect">
            <a:avLst/>
          </a:prstGeom>
          <a:solidFill>
            <a:srgbClr val="0D3B1A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33" name="Text 31"/>
          <p:cNvSpPr/>
          <p:nvPr/>
        </p:nvSpPr>
        <p:spPr>
          <a:xfrm>
            <a:off x="457200" y="46451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150" b="1" noProof="0" dirty="0">
                <a:solidFill>
                  <a:srgbClr val="00C851"/>
                </a:solidFill>
              </a:rPr>
              <a:t>✅  Orbita LEO osiągnięta gdy: wysokość &gt; 140 km  oraz  prędkość ≥ 92% prędkości orbitalnej</a:t>
            </a:r>
            <a:endParaRPr lang="pl-PL" sz="11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2800" b="1" noProof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TELEMETRYCZNY</a:t>
            </a:r>
            <a:endParaRPr lang="pl-P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51760" cy="16002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200" b="1" noProof="0" dirty="0">
                <a:solidFill>
                  <a:srgbClr val="4A90E2"/>
                </a:solidFill>
              </a:rPr>
              <a:t>🌍  Wizualizacja 3D</a:t>
            </a:r>
            <a:endParaRPr lang="pl-PL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l-PL" sz="1050" noProof="0" dirty="0">
                <a:solidFill>
                  <a:srgbClr val="E1E1E1"/>
                </a:solidFill>
              </a:rPr>
              <a:t>Trajektoria w przestrzeni 3D z kulą ziemską. Każda faza lotu kolorowana osobno.</a:t>
            </a:r>
            <a:endParaRPr lang="pl-PL" sz="1050" noProof="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651760" cy="16002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7" name="Text 5"/>
          <p:cNvSpPr/>
          <p:nvPr/>
        </p:nvSpPr>
        <p:spPr>
          <a:xfrm>
            <a:off x="333756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200" b="1" noProof="0" dirty="0">
                <a:solidFill>
                  <a:srgbClr val="00C851"/>
                </a:solidFill>
              </a:rPr>
              <a:t>📈  Profil Wysokości</a:t>
            </a:r>
            <a:endParaRPr lang="pl-PL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3337560" y="16184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l-PL" sz="1050" noProof="0" dirty="0">
                <a:solidFill>
                  <a:srgbClr val="E1E1E1"/>
                </a:solidFill>
              </a:rPr>
              <a:t>Apogeum, czas wznoszenia, detekcja uderzenia w ziemię.</a:t>
            </a:r>
            <a:endParaRPr lang="pl-PL" sz="1050" noProof="0" dirty="0"/>
          </a:p>
        </p:txBody>
      </p:sp>
      <p:sp>
        <p:nvSpPr>
          <p:cNvPr id="9" name="Shape 7"/>
          <p:cNvSpPr/>
          <p:nvPr/>
        </p:nvSpPr>
        <p:spPr>
          <a:xfrm>
            <a:off x="6080760" y="1051560"/>
            <a:ext cx="2651760" cy="16002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0" name="Text 8"/>
          <p:cNvSpPr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200" b="1" noProof="0" dirty="0">
                <a:solidFill>
                  <a:srgbClr val="EF553B"/>
                </a:solidFill>
              </a:rPr>
              <a:t>⚡  Profil Prędkości</a:t>
            </a:r>
            <a:endParaRPr lang="pl-PL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6217920" y="16184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l-PL" sz="1050" noProof="0" dirty="0">
                <a:solidFill>
                  <a:srgbClr val="E1E1E1"/>
                </a:solidFill>
              </a:rPr>
              <a:t>Prędkość bezwzględna vs. wymagana prędkość orbitalna.</a:t>
            </a:r>
            <a:endParaRPr lang="pl-PL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2651760" cy="16002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200" b="1" noProof="0" dirty="0">
                <a:solidFill>
                  <a:srgbClr val="00E5FF"/>
                </a:solidFill>
              </a:rPr>
              <a:t>⛽  Zużycie Paliwa</a:t>
            </a:r>
            <a:endParaRPr lang="pl-PL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34472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l-PL" sz="1050" noProof="0" dirty="0">
                <a:solidFill>
                  <a:srgbClr val="E1E1E1"/>
                </a:solidFill>
              </a:rPr>
              <a:t>Oba zbiorniki na jednym wykresie – monitoring masy w czasie.</a:t>
            </a:r>
            <a:endParaRPr lang="pl-PL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3200400" y="2880360"/>
            <a:ext cx="2651760" cy="16002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6" name="Text 14"/>
          <p:cNvSpPr/>
          <p:nvPr/>
        </p:nvSpPr>
        <p:spPr>
          <a:xfrm>
            <a:off x="333756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200" b="1" noProof="0" dirty="0">
                <a:solidFill>
                  <a:srgbClr val="EF553B"/>
                </a:solidFill>
              </a:rPr>
              <a:t>⚠️  Stabilność </a:t>
            </a:r>
            <a:r>
              <a:rPr lang="pl-PL" sz="1200" b="1" noProof="0" dirty="0" err="1">
                <a:solidFill>
                  <a:srgbClr val="EF553B"/>
                </a:solidFill>
              </a:rPr>
              <a:t>AoA</a:t>
            </a:r>
            <a:endParaRPr lang="pl-PL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3337560" y="34472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l-PL" sz="1050" noProof="0" dirty="0">
                <a:solidFill>
                  <a:srgbClr val="E1E1E1"/>
                </a:solidFill>
              </a:rPr>
              <a:t>Kąt natarcia. Linia krytyczna 10° – alert dla struktury.</a:t>
            </a:r>
            <a:endParaRPr lang="pl-PL" sz="1050" noProof="0" dirty="0"/>
          </a:p>
        </p:txBody>
      </p:sp>
      <p:sp>
        <p:nvSpPr>
          <p:cNvPr id="18" name="Shape 16"/>
          <p:cNvSpPr/>
          <p:nvPr/>
        </p:nvSpPr>
        <p:spPr>
          <a:xfrm>
            <a:off x="6080760" y="2880360"/>
            <a:ext cx="2651760" cy="16002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9" name="Text 17"/>
          <p:cNvSpPr/>
          <p:nvPr/>
        </p:nvSpPr>
        <p:spPr>
          <a:xfrm>
            <a:off x="6217920" y="3017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l-PL" sz="1200" b="1" noProof="0" dirty="0">
                <a:solidFill>
                  <a:srgbClr val="AB63FA"/>
                </a:solidFill>
              </a:rPr>
              <a:t>🤖  AI Optymalizator</a:t>
            </a:r>
            <a:endParaRPr lang="pl-PL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6217920" y="34472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l-PL" sz="1050" noProof="0" dirty="0">
                <a:solidFill>
                  <a:srgbClr val="E1E1E1"/>
                </a:solidFill>
              </a:rPr>
              <a:t>Jeden klik. Algorytm Powell szuka optymalnego </a:t>
            </a:r>
            <a:r>
              <a:rPr lang="pl-PL" sz="1050" noProof="0" dirty="0" err="1">
                <a:solidFill>
                  <a:srgbClr val="E1E1E1"/>
                </a:solidFill>
              </a:rPr>
              <a:t>Gravity</a:t>
            </a:r>
            <a:r>
              <a:rPr lang="pl-PL" sz="1050" noProof="0" dirty="0">
                <a:solidFill>
                  <a:srgbClr val="E1E1E1"/>
                </a:solidFill>
              </a:rPr>
              <a:t> </a:t>
            </a:r>
            <a:r>
              <a:rPr lang="pl-PL" sz="1050" noProof="0" dirty="0" err="1">
                <a:solidFill>
                  <a:srgbClr val="E1E1E1"/>
                </a:solidFill>
              </a:rPr>
              <a:t>Turn</a:t>
            </a:r>
            <a:r>
              <a:rPr lang="pl-PL" sz="1050" noProof="0" dirty="0">
                <a:solidFill>
                  <a:srgbClr val="E1E1E1"/>
                </a:solidFill>
              </a:rPr>
              <a:t>.</a:t>
            </a:r>
            <a:endParaRPr lang="pl-PL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50" i="1" noProof="0" dirty="0">
                <a:solidFill>
                  <a:srgbClr val="8B9BB4"/>
                </a:solidFill>
              </a:rPr>
              <a:t>Interaktywne suwaki pozwalają zmieniać 10+ parametrów rakiety i natychmiast uruchomić ponowną symulację.</a:t>
            </a:r>
            <a:endParaRPr lang="pl-PL" sz="10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RAKIETY – OPENROCKET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Szczegółowy model fizyczny z wewnętrzną budową konstrukcji nośnej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547208"/>
            <a:ext cx="8412480" cy="1669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3749040"/>
            <a:ext cx="1993392" cy="11430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11480" y="380390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🔩  Konstrukcja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1480" y="417880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1E1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Kompozyt węglowy, laminat, żebra strukturalne – model przekrojowy z widocznym wnętrzem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468880" y="3749040"/>
            <a:ext cx="1993392" cy="11430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2560320" y="380390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📐  Geometria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560320" y="417880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1E1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Stożek, cylindry, stabilizatory ogonowe – pełna definicja kształtu i wymiarów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17720" y="3749040"/>
            <a:ext cx="1993392" cy="11430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09160" y="380390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⚙️  Masa / CG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09160" y="417880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1E1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Centrum grawitacji (CG) i parcia (CP) wyznaczone automatycznie przez OpenRocket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766560" y="3749040"/>
            <a:ext cx="1993392" cy="114300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0" y="380390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🪶  Stabilność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0" y="417880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1E1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Margines statyczny &gt; 1 </a:t>
            </a:r>
            <a:r>
              <a:rPr kumimoji="0" lang="pl-PL" sz="1000" b="0" i="0" u="none" strike="noStrike" kern="1200" cap="none" spc="0" normalizeH="0" baseline="0" noProof="0" dirty="0">
                <a:ln>
                  <a:noFill/>
                </a:ln>
                <a:solidFill>
                  <a:srgbClr val="E1E1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1E1E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rakieta stabilna aerodynamicznie w locie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Wizualizacja wygenerowana w OpenRocket – profesjonalne narzędzie do projektowania rakiet badawczych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SYMULACJA LOTU – OPENROCKET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Ruch pionowy: wysokość, prędkość i przyspieszenie w funkcji czasu lotu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70432"/>
            <a:ext cx="589788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170432"/>
            <a:ext cx="2606040" cy="329184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0" y="12618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Kluczowe wyniki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0" y="1682496"/>
            <a:ext cx="2377440" cy="0"/>
          </a:xfrm>
          <a:prstGeom prst="line">
            <a:avLst/>
          </a:prstGeom>
          <a:noFill/>
          <a:ln w="10160">
            <a:solidFill>
              <a:srgbClr val="1E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0" y="17373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Apogeum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8080" y="173736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E5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~170 km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00800" y="2340864"/>
            <a:ext cx="2377440" cy="0"/>
          </a:xfrm>
          <a:prstGeom prst="line">
            <a:avLst/>
          </a:prstGeom>
          <a:noFill/>
          <a:ln w="10160">
            <a:solidFill>
              <a:srgbClr val="1E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0" y="23957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prędkość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498080" y="239572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85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~</a:t>
            </a:r>
            <a:r>
              <a:rPr kumimoji="0" lang="pl-PL" sz="1300" b="1" i="0" u="none" strike="noStrike" kern="1200" cap="none" spc="0" normalizeH="0" baseline="0" noProof="0" dirty="0">
                <a:ln>
                  <a:noFill/>
                </a:ln>
                <a:solidFill>
                  <a:srgbClr val="00C85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C85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000 m/s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0" y="2999232"/>
            <a:ext cx="2377440" cy="0"/>
          </a:xfrm>
          <a:prstGeom prst="line">
            <a:avLst/>
          </a:prstGeom>
          <a:noFill/>
          <a:ln w="10160">
            <a:solidFill>
              <a:srgbClr val="1E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00" y="30540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Czas lotu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498080" y="305409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EF55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~1 050 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400800" y="3657600"/>
            <a:ext cx="2377440" cy="0"/>
          </a:xfrm>
          <a:prstGeom prst="line">
            <a:avLst/>
          </a:prstGeom>
          <a:noFill/>
          <a:ln w="10160">
            <a:solidFill>
              <a:srgbClr val="1E2A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l-P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0" y="37124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zapłon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498080" y="371246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B63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~</a:t>
            </a:r>
            <a:r>
              <a:rPr lang="pl-PL" sz="1300" b="1" dirty="0">
                <a:solidFill>
                  <a:srgbClr val="AB63FA"/>
                </a:solidFill>
                <a:latin typeface="Calibri" panose="020F0502020204030204"/>
              </a:rPr>
              <a:t>7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AB63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 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09360" y="42245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Legenda zdarzeń: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65760" y="491947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1" u="none" strike="noStrike" kern="1200" cap="none" spc="0" normalizeH="0" baseline="0" noProof="0" dirty="0">
                <a:ln>
                  <a:noFill/>
                </a:ln>
                <a:solidFill>
                  <a:srgbClr val="8B9BB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Simulation 2 – Ruch pionowy w funkcji czasu | OpenRocket Simulation Engine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l-PL" sz="2800" b="1" noProof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WYNIKI SYMULACJI – MISJI KPI</a:t>
            </a:r>
            <a:endParaRPr lang="pl-P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15087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2200" b="1" noProof="0" dirty="0">
                <a:solidFill>
                  <a:srgbClr val="00E5FF"/>
                </a:solidFill>
              </a:rPr>
              <a:t>~200 km</a:t>
            </a:r>
            <a:endParaRPr lang="pl-PL" sz="2200" noProof="0" dirty="0"/>
          </a:p>
        </p:txBody>
      </p:sp>
      <p:sp>
        <p:nvSpPr>
          <p:cNvPr id="5" name="Text 3"/>
          <p:cNvSpPr/>
          <p:nvPr/>
        </p:nvSpPr>
        <p:spPr>
          <a:xfrm>
            <a:off x="411480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8B9BB4"/>
                </a:solidFill>
              </a:rPr>
              <a:t>Apogeum (LEO)</a:t>
            </a:r>
            <a:endParaRPr lang="pl-PL" sz="1000" noProof="0" dirty="0"/>
          </a:p>
        </p:txBody>
      </p:sp>
      <p:sp>
        <p:nvSpPr>
          <p:cNvPr id="6" name="Shape 4"/>
          <p:cNvSpPr/>
          <p:nvPr/>
        </p:nvSpPr>
        <p:spPr>
          <a:xfrm>
            <a:off x="2487168" y="1005840"/>
            <a:ext cx="1920240" cy="15087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7" name="Text 5"/>
          <p:cNvSpPr/>
          <p:nvPr/>
        </p:nvSpPr>
        <p:spPr>
          <a:xfrm>
            <a:off x="2532888" y="107899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2200" b="1" noProof="0" dirty="0">
                <a:solidFill>
                  <a:srgbClr val="00C851"/>
                </a:solidFill>
              </a:rPr>
              <a:t>7 800 m/s</a:t>
            </a:r>
            <a:endParaRPr lang="pl-PL" sz="2200" noProof="0" dirty="0"/>
          </a:p>
        </p:txBody>
      </p:sp>
      <p:sp>
        <p:nvSpPr>
          <p:cNvPr id="8" name="Text 6"/>
          <p:cNvSpPr/>
          <p:nvPr/>
        </p:nvSpPr>
        <p:spPr>
          <a:xfrm>
            <a:off x="2532888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8B9BB4"/>
                </a:solidFill>
              </a:rPr>
              <a:t>Prędkość Orbitalna</a:t>
            </a:r>
            <a:endParaRPr lang="pl-PL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4608576" y="1005840"/>
            <a:ext cx="1920240" cy="15087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0" name="Text 8"/>
          <p:cNvSpPr/>
          <p:nvPr/>
        </p:nvSpPr>
        <p:spPr>
          <a:xfrm>
            <a:off x="4654296" y="107899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2200" b="1" noProof="0" dirty="0">
                <a:solidFill>
                  <a:srgbClr val="EF553B"/>
                </a:solidFill>
              </a:rPr>
              <a:t>&lt; 5°</a:t>
            </a:r>
            <a:endParaRPr lang="pl-PL" sz="2200" noProof="0" dirty="0"/>
          </a:p>
        </p:txBody>
      </p:sp>
      <p:sp>
        <p:nvSpPr>
          <p:cNvPr id="11" name="Text 9"/>
          <p:cNvSpPr/>
          <p:nvPr/>
        </p:nvSpPr>
        <p:spPr>
          <a:xfrm>
            <a:off x="4654296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8B9BB4"/>
                </a:solidFill>
              </a:rPr>
              <a:t>Maks. </a:t>
            </a:r>
            <a:r>
              <a:rPr lang="pl-PL" sz="1000" noProof="0" dirty="0" err="1">
                <a:solidFill>
                  <a:srgbClr val="8B9BB4"/>
                </a:solidFill>
              </a:rPr>
              <a:t>AoA</a:t>
            </a:r>
            <a:r>
              <a:rPr lang="pl-PL" sz="1000" noProof="0" dirty="0">
                <a:solidFill>
                  <a:srgbClr val="8B9BB4"/>
                </a:solidFill>
              </a:rPr>
              <a:t> (stabilność)</a:t>
            </a:r>
            <a:endParaRPr lang="pl-PL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6729984" y="1005840"/>
            <a:ext cx="1920240" cy="1508760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3" name="Text 11"/>
          <p:cNvSpPr/>
          <p:nvPr/>
        </p:nvSpPr>
        <p:spPr>
          <a:xfrm>
            <a:off x="6775704" y="1078992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2200" b="1" noProof="0" dirty="0">
                <a:solidFill>
                  <a:srgbClr val="AB63FA"/>
                </a:solidFill>
              </a:rPr>
              <a:t>~690 kg</a:t>
            </a:r>
            <a:endParaRPr lang="pl-PL" sz="2200" noProof="0" dirty="0"/>
          </a:p>
        </p:txBody>
      </p:sp>
      <p:sp>
        <p:nvSpPr>
          <p:cNvPr id="14" name="Text 12"/>
          <p:cNvSpPr/>
          <p:nvPr/>
        </p:nvSpPr>
        <p:spPr>
          <a:xfrm>
            <a:off x="6775704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noProof="0" dirty="0">
                <a:solidFill>
                  <a:srgbClr val="8B9BB4"/>
                </a:solidFill>
              </a:rPr>
              <a:t>Łączna masa startowa</a:t>
            </a:r>
            <a:endParaRPr lang="pl-PL" sz="1000" noProof="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365760" y="2743200"/>
          <a:ext cx="84124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1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3000" b="1" noProof="0" dirty="0">
                <a:solidFill>
                  <a:srgbClr val="00C8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SUKCES: ORBITA LEO OSIĄGNIĘTA</a:t>
            </a:r>
            <a:endParaRPr lang="pl-PL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804672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5" name="Text 3"/>
          <p:cNvSpPr/>
          <p:nvPr/>
        </p:nvSpPr>
        <p:spPr>
          <a:xfrm>
            <a:off x="475488" y="123444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800" noProof="0" dirty="0">
                <a:solidFill>
                  <a:srgbClr val="00C851"/>
                </a:solidFill>
              </a:rPr>
              <a:t>✔</a:t>
            </a:r>
            <a:endParaRPr lang="pl-PL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932688" y="123444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00" noProof="0" dirty="0">
                <a:solidFill>
                  <a:srgbClr val="E1E1E1"/>
                </a:solidFill>
              </a:rPr>
              <a:t>Kompletny model fizyczny: grawitacja, aerodynamika, wielostopniowy napęd</a:t>
            </a:r>
            <a:endParaRPr lang="pl-PL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160520" cy="804672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8" name="Text 6"/>
          <p:cNvSpPr/>
          <p:nvPr/>
        </p:nvSpPr>
        <p:spPr>
          <a:xfrm>
            <a:off x="4910328" y="123444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800" noProof="0" dirty="0">
                <a:solidFill>
                  <a:srgbClr val="00C851"/>
                </a:solidFill>
              </a:rPr>
              <a:t>✔</a:t>
            </a:r>
            <a:endParaRPr lang="pl-PL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5367528" y="123444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00" noProof="0" dirty="0">
                <a:solidFill>
                  <a:srgbClr val="E1E1E1"/>
                </a:solidFill>
              </a:rPr>
              <a:t>Pełna symulacja numeryczna trajektorii z detekcją osiągnięcia orbity</a:t>
            </a:r>
            <a:endParaRPr lang="pl-PL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60520" cy="804672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1" name="Text 9"/>
          <p:cNvSpPr/>
          <p:nvPr/>
        </p:nvSpPr>
        <p:spPr>
          <a:xfrm>
            <a:off x="475488" y="224028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800" noProof="0" dirty="0">
                <a:solidFill>
                  <a:srgbClr val="00C851"/>
                </a:solidFill>
              </a:rPr>
              <a:t>✔</a:t>
            </a:r>
            <a:endParaRPr lang="pl-PL" sz="1800" noProof="0" dirty="0"/>
          </a:p>
        </p:txBody>
      </p:sp>
      <p:sp>
        <p:nvSpPr>
          <p:cNvPr id="12" name="Text 10"/>
          <p:cNvSpPr/>
          <p:nvPr/>
        </p:nvSpPr>
        <p:spPr>
          <a:xfrm>
            <a:off x="932688" y="224028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00" noProof="0" dirty="0">
                <a:solidFill>
                  <a:srgbClr val="E1E1E1"/>
                </a:solidFill>
              </a:rPr>
              <a:t>Dashboard telemetryczny z 6 wykresami i 3 wskaźnikami KPI w czasie rzeczywistym</a:t>
            </a:r>
            <a:endParaRPr lang="pl-PL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4800600" y="2194560"/>
            <a:ext cx="4160520" cy="804672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4" name="Text 12"/>
          <p:cNvSpPr/>
          <p:nvPr/>
        </p:nvSpPr>
        <p:spPr>
          <a:xfrm>
            <a:off x="4910328" y="224028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800" noProof="0" dirty="0">
                <a:solidFill>
                  <a:srgbClr val="00C851"/>
                </a:solidFill>
              </a:rPr>
              <a:t>✔</a:t>
            </a:r>
            <a:endParaRPr lang="pl-PL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5367528" y="224028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00" noProof="0" dirty="0">
                <a:solidFill>
                  <a:srgbClr val="E1E1E1"/>
                </a:solidFill>
              </a:rPr>
              <a:t>AI optymalizacja </a:t>
            </a:r>
            <a:r>
              <a:rPr lang="pl-PL" sz="1100" noProof="0" dirty="0" err="1">
                <a:solidFill>
                  <a:srgbClr val="E1E1E1"/>
                </a:solidFill>
              </a:rPr>
              <a:t>Gravity</a:t>
            </a:r>
            <a:r>
              <a:rPr lang="pl-PL" sz="1100" noProof="0" dirty="0">
                <a:solidFill>
                  <a:srgbClr val="E1E1E1"/>
                </a:solidFill>
              </a:rPr>
              <a:t> </a:t>
            </a:r>
            <a:r>
              <a:rPr lang="pl-PL" sz="1100" noProof="0" dirty="0" err="1">
                <a:solidFill>
                  <a:srgbClr val="E1E1E1"/>
                </a:solidFill>
              </a:rPr>
              <a:t>Turn</a:t>
            </a:r>
            <a:r>
              <a:rPr lang="pl-PL" sz="1100" noProof="0" dirty="0">
                <a:solidFill>
                  <a:srgbClr val="E1E1E1"/>
                </a:solidFill>
              </a:rPr>
              <a:t> (algorytm Powell) – jeden klik do optymalnej trajektorii</a:t>
            </a:r>
            <a:endParaRPr lang="pl-PL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160520" cy="804672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17" name="Text 15"/>
          <p:cNvSpPr/>
          <p:nvPr/>
        </p:nvSpPr>
        <p:spPr>
          <a:xfrm>
            <a:off x="475488" y="32461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800" noProof="0" dirty="0">
                <a:solidFill>
                  <a:srgbClr val="00C851"/>
                </a:solidFill>
              </a:rPr>
              <a:t>✔</a:t>
            </a:r>
            <a:endParaRPr lang="pl-PL" sz="1800" noProof="0" dirty="0"/>
          </a:p>
        </p:txBody>
      </p:sp>
      <p:sp>
        <p:nvSpPr>
          <p:cNvPr id="18" name="Text 16"/>
          <p:cNvSpPr/>
          <p:nvPr/>
        </p:nvSpPr>
        <p:spPr>
          <a:xfrm>
            <a:off x="932688" y="324612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00" noProof="0" dirty="0">
                <a:solidFill>
                  <a:srgbClr val="E1E1E1"/>
                </a:solidFill>
              </a:rPr>
              <a:t>Wizualizacja 3D trajektorii orbitalnej z kulą ziemską</a:t>
            </a:r>
            <a:endParaRPr lang="pl-PL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4800600" y="3200400"/>
            <a:ext cx="4160520" cy="804672"/>
          </a:xfrm>
          <a:prstGeom prst="rect">
            <a:avLst/>
          </a:prstGeom>
          <a:solidFill>
            <a:srgbClr val="131829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20" name="Text 18"/>
          <p:cNvSpPr/>
          <p:nvPr/>
        </p:nvSpPr>
        <p:spPr>
          <a:xfrm>
            <a:off x="4910328" y="32461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800" noProof="0" dirty="0">
                <a:solidFill>
                  <a:srgbClr val="00C851"/>
                </a:solidFill>
              </a:rPr>
              <a:t>✔</a:t>
            </a:r>
            <a:endParaRPr lang="pl-PL" sz="1800" noProof="0" dirty="0"/>
          </a:p>
        </p:txBody>
      </p:sp>
      <p:sp>
        <p:nvSpPr>
          <p:cNvPr id="21" name="Text 19"/>
          <p:cNvSpPr/>
          <p:nvPr/>
        </p:nvSpPr>
        <p:spPr>
          <a:xfrm>
            <a:off x="5367528" y="324612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100" noProof="0" dirty="0">
                <a:solidFill>
                  <a:srgbClr val="E1E1E1"/>
                </a:solidFill>
              </a:rPr>
              <a:t>Interaktywne suwaki: 10+ parametrów, natychmiastowe przeliczenie symulacji</a:t>
            </a:r>
            <a:endParaRPr lang="pl-PL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1371600" y="4297680"/>
            <a:ext cx="6400800" cy="658368"/>
          </a:xfrm>
          <a:prstGeom prst="rect">
            <a:avLst/>
          </a:prstGeom>
          <a:solidFill>
            <a:srgbClr val="0D3B1A"/>
          </a:solidFill>
          <a:ln w="15240">
            <a:solidFill>
              <a:srgbClr val="1E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l-PL" noProof="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500" b="1" noProof="0" dirty="0">
                <a:solidFill>
                  <a:srgbClr val="00C851"/>
                </a:solidFill>
              </a:rPr>
              <a:t>🛰️  System gotowy do demonstracji na żywo</a:t>
            </a:r>
            <a:endParaRPr lang="pl-PL" sz="1500" noProof="0" dirty="0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526"/>
          </a:solidFill>
          <a:ln/>
        </p:spPr>
        <p:txBody>
          <a:bodyPr/>
          <a:lstStyle/>
          <a:p>
            <a:endParaRPr lang="pl-PL" noProof="0" dirty="0"/>
          </a:p>
        </p:txBody>
      </p:sp>
      <p:sp>
        <p:nvSpPr>
          <p:cNvPr id="25" name="Text 23"/>
          <p:cNvSpPr/>
          <p:nvPr/>
        </p:nvSpPr>
        <p:spPr>
          <a:xfrm>
            <a:off x="365760" y="4956048"/>
            <a:ext cx="84124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l-PL" sz="1000" noProof="0" dirty="0" err="1">
                <a:solidFill>
                  <a:srgbClr val="8B9BB4"/>
                </a:solidFill>
              </a:rPr>
              <a:t>Satellite</a:t>
            </a:r>
            <a:r>
              <a:rPr lang="pl-PL" sz="1000" noProof="0" dirty="0">
                <a:solidFill>
                  <a:srgbClr val="8B9BB4"/>
                </a:solidFill>
              </a:rPr>
              <a:t> </a:t>
            </a:r>
            <a:r>
              <a:rPr lang="pl-PL" sz="1000" noProof="0" dirty="0" err="1">
                <a:solidFill>
                  <a:srgbClr val="8B9BB4"/>
                </a:solidFill>
              </a:rPr>
              <a:t>Launch</a:t>
            </a:r>
            <a:r>
              <a:rPr lang="pl-PL" sz="1000" noProof="0" dirty="0">
                <a:solidFill>
                  <a:srgbClr val="8B9BB4"/>
                </a:solidFill>
              </a:rPr>
              <a:t> System – Digital </a:t>
            </a:r>
            <a:r>
              <a:rPr lang="pl-PL" sz="1000" noProof="0" dirty="0" err="1">
                <a:solidFill>
                  <a:srgbClr val="8B9BB4"/>
                </a:solidFill>
              </a:rPr>
              <a:t>Twin</a:t>
            </a:r>
            <a:r>
              <a:rPr lang="pl-PL" sz="1000" noProof="0" dirty="0">
                <a:solidFill>
                  <a:srgbClr val="8B9BB4"/>
                </a:solidFill>
              </a:rPr>
              <a:t> </a:t>
            </a:r>
            <a:r>
              <a:rPr lang="pl-PL" sz="1000" noProof="0" dirty="0" err="1">
                <a:solidFill>
                  <a:srgbClr val="8B9BB4"/>
                </a:solidFill>
              </a:rPr>
              <a:t>Mission</a:t>
            </a:r>
            <a:r>
              <a:rPr lang="pl-PL" sz="1000" noProof="0" dirty="0">
                <a:solidFill>
                  <a:srgbClr val="8B9BB4"/>
                </a:solidFill>
              </a:rPr>
              <a:t>  |  Python + </a:t>
            </a:r>
            <a:r>
              <a:rPr lang="pl-PL" sz="1000" noProof="0" dirty="0" err="1">
                <a:solidFill>
                  <a:srgbClr val="8B9BB4"/>
                </a:solidFill>
              </a:rPr>
              <a:t>Dash</a:t>
            </a:r>
            <a:r>
              <a:rPr lang="pl-PL" sz="1000" noProof="0" dirty="0">
                <a:solidFill>
                  <a:srgbClr val="8B9BB4"/>
                </a:solidFill>
              </a:rPr>
              <a:t> + </a:t>
            </a:r>
            <a:r>
              <a:rPr lang="pl-PL" sz="1000" noProof="0" dirty="0" err="1">
                <a:solidFill>
                  <a:srgbClr val="8B9BB4"/>
                </a:solidFill>
              </a:rPr>
              <a:t>SciPy</a:t>
            </a:r>
            <a:r>
              <a:rPr lang="pl-PL" sz="1000" noProof="0" dirty="0">
                <a:solidFill>
                  <a:srgbClr val="8B9BB4"/>
                </a:solidFill>
              </a:rPr>
              <a:t> + </a:t>
            </a:r>
            <a:r>
              <a:rPr lang="pl-PL" sz="1000" noProof="0" dirty="0" err="1">
                <a:solidFill>
                  <a:srgbClr val="8B9BB4"/>
                </a:solidFill>
              </a:rPr>
              <a:t>Plotly</a:t>
            </a:r>
            <a:endParaRPr lang="pl-PL" sz="1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714</Words>
  <Application>Microsoft Office PowerPoint</Application>
  <PresentationFormat>Pokaz na ekranie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Black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Launch System – Digital Twin</dc:title>
  <dc:subject>PptxGenJS Presentation</dc:subject>
  <dc:creator>PptxGenJS</dc:creator>
  <cp:lastModifiedBy>Żukowski Krystian</cp:lastModifiedBy>
  <cp:revision>5</cp:revision>
  <dcterms:created xsi:type="dcterms:W3CDTF">2026-05-23T19:05:26Z</dcterms:created>
  <dcterms:modified xsi:type="dcterms:W3CDTF">2026-05-24T09:28:12Z</dcterms:modified>
</cp:coreProperties>
</file>